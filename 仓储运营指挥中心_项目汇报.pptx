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3ee4db4144f9f" /><Relationship Type="http://schemas.openxmlformats.org/officeDocument/2006/relationships/extended-properties" Target="/docProps/app.xml" Id="R2fd37d44b03b4c96" /><Relationship Type="http://schemas.openxmlformats.org/officeDocument/2006/relationships/officeDocument" Target="/ppt/presentation.xml" Id="Re27d1785770d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03c33b625461c"/>
  </p:sldMasterIdLst>
  <p:notesMasterIdLst>
    <p:notesMasterId xmlns:r="http://schemas.openxmlformats.org/officeDocument/2006/relationships" r:id="Rd8b42b29342f4bc3"/>
  </p:notesMasterIdLst>
  <p:sldIdLst>
    <p:sldId xmlns:r="http://schemas.openxmlformats.org/officeDocument/2006/relationships" id="256" r:id="Rb7a19ab50fba4d71"/>
    <p:sldId xmlns:r="http://schemas.openxmlformats.org/officeDocument/2006/relationships" id="257" r:id="R521815f239c04628"/>
    <p:sldId xmlns:r="http://schemas.openxmlformats.org/officeDocument/2006/relationships" id="258" r:id="Rc66c084c191740c3"/>
    <p:sldId xmlns:r="http://schemas.openxmlformats.org/officeDocument/2006/relationships" id="259" r:id="Re478d784452e462a"/>
    <p:sldId xmlns:r="http://schemas.openxmlformats.org/officeDocument/2006/relationships" id="260" r:id="R463853b74c5f4370"/>
    <p:sldId xmlns:r="http://schemas.openxmlformats.org/officeDocument/2006/relationships" id="261" r:id="R2501480ebc35440a"/>
    <p:sldId xmlns:r="http://schemas.openxmlformats.org/officeDocument/2006/relationships" id="262" r:id="R2ed21a1a84324a63"/>
    <p:sldId xmlns:r="http://schemas.openxmlformats.org/officeDocument/2006/relationships" id="263" r:id="R8d03e800a6294e99"/>
    <p:sldId xmlns:r="http://schemas.openxmlformats.org/officeDocument/2006/relationships" id="264" r:id="R43af1a9e81604657"/>
    <p:sldId xmlns:r="http://schemas.openxmlformats.org/officeDocument/2006/relationships" id="265" r:id="R837330ce8d5e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00bd066c8841db" /><Relationship Type="http://schemas.openxmlformats.org/officeDocument/2006/relationships/slideMaster" Target="/ppt/slideMasters/slideMaster1.xml" Id="Rc6d03c33b625461c" /><Relationship Type="http://schemas.openxmlformats.org/officeDocument/2006/relationships/notesMaster" Target="/ppt/notesMasters/notesMaster1.xml" Id="Rd8b42b29342f4bc3" /><Relationship Type="http://schemas.openxmlformats.org/officeDocument/2006/relationships/presProps" Target="/ppt/presProps.xml" Id="Rfd7e9e09fe304de9" /><Relationship Type="http://schemas.openxmlformats.org/officeDocument/2006/relationships/tableStyles" Target="/ppt/tableStyles.xml" Id="R3e3c2265e1fc4ea4" /><Relationship Type="http://schemas.openxmlformats.org/officeDocument/2006/relationships/slide" Target="/ppt/slides/slide1.xml" Id="Rb7a19ab50fba4d71" /><Relationship Type="http://schemas.openxmlformats.org/officeDocument/2006/relationships/slide" Target="/ppt/slides/slide2.xml" Id="R521815f239c04628" /><Relationship Type="http://schemas.openxmlformats.org/officeDocument/2006/relationships/slide" Target="/ppt/slides/slide3.xml" Id="Rc66c084c191740c3" /><Relationship Type="http://schemas.openxmlformats.org/officeDocument/2006/relationships/slide" Target="/ppt/slides/slide4.xml" Id="Re478d784452e462a" /><Relationship Type="http://schemas.openxmlformats.org/officeDocument/2006/relationships/slide" Target="/ppt/slides/slide5.xml" Id="R463853b74c5f4370" /><Relationship Type="http://schemas.openxmlformats.org/officeDocument/2006/relationships/slide" Target="/ppt/slides/slide6.xml" Id="R2501480ebc35440a" /><Relationship Type="http://schemas.openxmlformats.org/officeDocument/2006/relationships/slide" Target="/ppt/slides/slide7.xml" Id="R2ed21a1a84324a63" /><Relationship Type="http://schemas.openxmlformats.org/officeDocument/2006/relationships/slide" Target="/ppt/slides/slide8.xml" Id="R8d03e800a6294e99" /><Relationship Type="http://schemas.openxmlformats.org/officeDocument/2006/relationships/slide" Target="/ppt/slides/slide9.xml" Id="R43af1a9e81604657" /><Relationship Type="http://schemas.openxmlformats.org/officeDocument/2006/relationships/slide" Target="/ppt/slides/slide10.xml" Id="R837330ce8d5e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1daee9283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9c472577b4b60" /><Relationship Type="http://schemas.openxmlformats.org/officeDocument/2006/relationships/notesMaster" Target="/ppt/notesMasters/notesMaster1.xml" Id="Rc7f61bc6dfe94b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cfc1a37cc478f" /><Relationship Type="http://schemas.openxmlformats.org/officeDocument/2006/relationships/notesMaster" Target="/ppt/notesMasters/notesMaster1.xml" Id="R34ca40a57bdd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2133d4aa54c36" /><Relationship Type="http://schemas.openxmlformats.org/officeDocument/2006/relationships/notesMaster" Target="/ppt/notesMasters/notesMaster1.xml" Id="Rf426390ab263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cedea1186f4f08" /><Relationship Type="http://schemas.openxmlformats.org/officeDocument/2006/relationships/notesMaster" Target="/ppt/notesMasters/notesMaster1.xml" Id="R8efa54dce84d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68f3973e4478d" /><Relationship Type="http://schemas.openxmlformats.org/officeDocument/2006/relationships/notesMaster" Target="/ppt/notesMasters/notesMaster1.xml" Id="R8e76aabfd7ee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5f355789354d38" /><Relationship Type="http://schemas.openxmlformats.org/officeDocument/2006/relationships/notesMaster" Target="/ppt/notesMasters/notesMaster1.xml" Id="R5ad52972022b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062c6ddc71422a" /><Relationship Type="http://schemas.openxmlformats.org/officeDocument/2006/relationships/notesMaster" Target="/ppt/notesMasters/notesMaster1.xml" Id="R5c9fd5e937214a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b7717100b9473f" /><Relationship Type="http://schemas.openxmlformats.org/officeDocument/2006/relationships/notesMaster" Target="/ppt/notesMasters/notesMaster1.xml" Id="R7eb210f762064a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5912f129c4a60" /><Relationship Type="http://schemas.openxmlformats.org/officeDocument/2006/relationships/notesMaster" Target="/ppt/notesMasters/notesMaster1.xml" Id="Rcf85c30b4557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6574dd57054e66" /><Relationship Type="http://schemas.openxmlformats.org/officeDocument/2006/relationships/notesMaster" Target="/ppt/notesMasters/notesMaster1.xml" Id="R0c88841ec6f049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frontend/src/router/index.js</a:t>
            </a:r>
          </a:p>
          <a:p xmlns:a="http://schemas.openxmlformats.org/drawingml/2006/main">
            <a:r>
              <a:t>- backend/pom.xml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要求/仓库运营信息看板研究.docx</a:t>
            </a:r>
          </a:p>
          <a:p xmlns:a="http://schemas.openxmlformats.org/drawingml/2006/main">
            <a:r>
              <a:t>- 要求/库龄分析与呆滞物料预警看板研究.docx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frontend/src/router/index.js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backend/pom.xml</a:t>
            </a:r>
          </a:p>
          <a:p xmlns:a="http://schemas.openxmlformats.org/drawingml/2006/main">
            <a:r>
              <a:t>- backend/src/main/resources/application.yml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frontend/src/data/raw-material-dashboard.json</a:t>
            </a:r>
          </a:p>
          <a:p xmlns:a="http://schemas.openxmlformats.org/drawingml/2006/main">
            <a:r>
              <a:t>- 本地运行页面：http://127.0.0.1:5173/raw-material</a:t>
            </a:r>
          </a:p>
          <a:p xmlns:a="http://schemas.openxmlformats.org/drawingml/2006/main">
            <a:r>
              <a:t>- .codex_tmp/ppt/screens/raw-material.png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frontend/src/views/InventoryAgingDashboard.vue</a:t>
            </a:r>
          </a:p>
          <a:p xmlns:a="http://schemas.openxmlformats.org/drawingml/2006/main">
            <a:r>
              <a:t>- backend/src/test/java/com/intco/warehouse/DashboardApiTest.java</a:t>
            </a:r>
          </a:p>
          <a:p xmlns:a="http://schemas.openxmlformats.org/drawingml/2006/main">
            <a:r>
              <a:t>- .codex_tmp/ppt/screens/inventory-aging.png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frontend/src/views/OperationsView.vue</a:t>
            </a:r>
          </a:p>
          <a:p xmlns:a="http://schemas.openxmlformats.org/drawingml/2006/main">
            <a:r>
              <a:t>- frontend/src/views/ExceptionsView.vue</a:t>
            </a:r>
          </a:p>
          <a:p xmlns:a="http://schemas.openxmlformats.org/drawingml/2006/main">
            <a:r>
              <a:t>- backend/src/main/java/com/intco/warehouse/service/DemoExceptionScheduler.java</a:t>
            </a:r>
          </a:p>
          <a:p xmlns:a="http://schemas.openxmlformats.org/drawingml/2006/main">
            <a:r>
              <a:t>- .codex_tmp/ppt/screens/operations.png</a:t>
            </a:r>
          </a:p>
          <a:p xmlns:a="http://schemas.openxmlformats.org/drawingml/2006/main">
            <a:r>
              <a:t>- .codex_tmp/ppt/screens/exceptions.png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frontend/src/views/DataCenterView.vue</a:t>
            </a:r>
          </a:p>
          <a:p xmlns:a="http://schemas.openxmlformats.org/drawingml/2006/main">
            <a:r>
              <a:t>- backend/src/main/java/com/intco/warehouse/service/ImportExportService.java</a:t>
            </a:r>
          </a:p>
          <a:p xmlns:a="http://schemas.openxmlformats.org/drawingml/2006/main">
            <a:r>
              <a:t>- backend/src/test/java/com/intco/warehouse/DashboardApiTest.java</a:t>
            </a:r>
          </a:p>
          <a:p xmlns:a="http://schemas.openxmlformats.org/drawingml/2006/main">
            <a:r>
              <a:t>- .codex_tmp/ppt/screens/data-center.png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backend/src/test/java/com/intco/warehouse/DashboardApiTest.java</a:t>
            </a:r>
          </a:p>
          <a:p xmlns:a="http://schemas.openxmlformats.org/drawingml/2006/main">
            <a:r>
              <a:t>- backend/src/main/resources/application.yml</a:t>
            </a:r>
          </a:p>
          <a:p xmlns:a="http://schemas.openxmlformats.org/drawingml/2006/main">
            <a:r>
              <a:t>- frontend/src/layouts/AppShell.vue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项目代码与本地运行页面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e1e7f8861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5c062946e4444" /><Relationship Type="http://schemas.openxmlformats.org/officeDocument/2006/relationships/slideLayout" Target="/ppt/slideLayouts/slideLayout1.xml" Id="Re5060ee7dfbe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60ee7dfbe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078ff70cd4e4b" /><Relationship Type="http://schemas.openxmlformats.org/officeDocument/2006/relationships/notesSlide" Target="/ppt/notesSlides/notesSlide1.xml" Id="Re06b32d80ea9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3066f78c1447c" /><Relationship Type="http://schemas.openxmlformats.org/officeDocument/2006/relationships/notesSlide" Target="/ppt/notesSlides/notesSlide2.xml" Id="R0d9332dce36d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531adcb1445c" /><Relationship Type="http://schemas.openxmlformats.org/officeDocument/2006/relationships/notesSlide" Target="/ppt/notesSlides/notesSlide3.xml" Id="Rbf14a933721e40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b2b25377d45a8" /><Relationship Type="http://schemas.openxmlformats.org/officeDocument/2006/relationships/notesSlide" Target="/ppt/notesSlides/notesSlide4.xml" Id="Rc05b50f7955b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d35217825445d" /><Relationship Type="http://schemas.openxmlformats.org/officeDocument/2006/relationships/image" Target="/ppt/media/image.png" Id="Rbbef4ddc9a85473c" /><Relationship Type="http://schemas.openxmlformats.org/officeDocument/2006/relationships/notesSlide" Target="/ppt/notesSlides/notesSlide5.xml" Id="R37ad5ff91b5449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90b513764107" /><Relationship Type="http://schemas.openxmlformats.org/officeDocument/2006/relationships/image" Target="/ppt/media/image2.png" Id="R0febdf37d44d4aa7" /><Relationship Type="http://schemas.openxmlformats.org/officeDocument/2006/relationships/notesSlide" Target="/ppt/notesSlides/notesSlide6.xml" Id="R7293080768af45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e028e805f4c21" /><Relationship Type="http://schemas.openxmlformats.org/officeDocument/2006/relationships/image" Target="/ppt/media/image3.png" Id="Reb73ddb3c1bf4291" /><Relationship Type="http://schemas.openxmlformats.org/officeDocument/2006/relationships/image" Target="/ppt/media/image4.png" Id="Ra76eb94ad4bd4583" /><Relationship Type="http://schemas.openxmlformats.org/officeDocument/2006/relationships/notesSlide" Target="/ppt/notesSlides/notesSlide7.xml" Id="R42120a8803ef45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935bf89e24009" /><Relationship Type="http://schemas.openxmlformats.org/officeDocument/2006/relationships/image" Target="/ppt/media/image5.png" Id="Rcf7b79fc44b84739" /><Relationship Type="http://schemas.openxmlformats.org/officeDocument/2006/relationships/notesSlide" Target="/ppt/notesSlides/notesSlide8.xml" Id="Rb02cad4c601742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33d71168c4295" /><Relationship Type="http://schemas.openxmlformats.org/officeDocument/2006/relationships/notesSlide" Target="/ppt/notesSlides/notesSlide9.xml" Id="Ra4edf7995367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bddfe285d4f28" /><Relationship Type="http://schemas.openxmlformats.org/officeDocument/2006/relationships/notesSlide" Target="/ppt/notesSlides/notesSlide10.xml" Id="R6ec0d40a6d1b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38829-5C33-4F29-AB09-7CC0BAA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3A05A-D650-4091-B6F3-4DBF5A36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86300"/>
            <a:ext cx="2381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9"/>
          </a:solidFill>
          <a:ln xmlns:a="http://schemas.openxmlformats.org/drawingml/2006/main" w="0">
            <a:solidFill>
              <a:srgbClr val="46B5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90580-BC4E-415F-9C93-BF5FF40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INTCO WAREHOUSE · PROJECT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457C8-865E-4597-9857-C00C237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76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仓储运营</a:t>
            </a:r>
          </a:p>
          <a:p xmlns:a="http://schemas.openxmlformats.org/drawingml/2006/main">
            <a:pPr algn="l">
              <a:defRPr sz="57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指挥中心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858B5-C753-4C97-91B3-7A96316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从数据汇聚到运营决策的一体化仓储看板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B0C7C-FF1A-42DF-8858-42D66209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Vue 3  ×  Spring Boot  ×  MySQL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FBCD1-FCAC-47C3-A1C4-E2303A8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2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798952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9A38C-71DD-42AA-ADB9-AF86187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WHY THIS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B5382-0AE7-4779-8285-B0FBDA1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看板的核心任务：让仓储状态可见、风险可追、数据可交付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19E9D-476E-4CB3-9779-8EC8927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3B098-C778-4A1C-B098-2C99F51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A15F1-9CDA-4C9E-9843-FD0A114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3D779-E86A-42B5-9068-DD30FE4F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C029F-44DD-4FAF-A904-A241DD6F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经营信息分散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FCF8D-B6DF-4AA2-A207-6461A60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作业、履约、库存、库区和资源指标分布在不同表格中，难以形成统一经营视图。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D0AF9-FD02-4F94-ABCF-E1E67A3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669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4E389-9360-4D17-AC24-B86D6A05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52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18D39-9600-4E42-A190-29FA8D7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76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异常发现滞后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E1F86-03F6-4724-9F5E-2CF2FC25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623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库存积压、库位压力与 SLA 超期缺少联动呈现，处置容易依赖人工经验。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DD35B-6D39-4692-9282-7F48165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C16B4-8BB6-44BE-A8BF-7BFF555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C30B1-4A48-4AC3-B199-6A9F4CB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数据交付成本高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C9776-0F01-4793-A45D-776A986E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Excel / CSV 更新、校验与导出缺少标准流程，复用和审计难度较高。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B2288-61C0-46A0-8021-5F26F960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6"/>
          </a:solidFill>
          <a:ln xmlns:a="http://schemas.openxmlformats.org/drawingml/2006/main" w="0">
            <a:solidFill>
              <a:srgbClr val="DDF3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AD94D-6D49-4CA8-BD86-58EC7F8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目标：建立“汇总—下钻—预警—交换”的完整闭环，让同一份数据同时服务高管与运营团队。</a:t>
            </a:r>
          </a:p>
        </p:txBody>
      </p:sp>
    </p:spTree>
    <p:extLst>
      <p:ext uri="{BB962C8B-B14F-4D97-AF65-F5344CB8AC3E}">
        <p14:creationId xmlns:p14="http://schemas.microsoft.com/office/powerpoint/2010/main" val="1002117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B1AB20-7023-4F17-BEBD-DE6A7B9F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PRODUCT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E0639-F5C5-4169-9995-66D8E43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一个入口覆盖经营总览与七类运营场景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A2DE4-45F5-49F1-A0AA-4D6565DE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27B49-F04A-480D-A534-0951CA72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0265D-88C0-48A1-952C-29961AE7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E38A9-3D43-4F0D-BF88-DE68FF0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经营总览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3FB9B-11A0-41F8-AFB1-BD8915B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健康度、业务规模、履约质量与资源负荷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CBDFD-7FB8-4103-9F89-AB815AD3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87615-3EBD-43ED-B408-58A1FC2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59242-A39E-4C16-AB14-E014C237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原料 / 成品库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3A2B4-0998-49B7-A072-EA532AF0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859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按仓库角色呈现吞吐、库存与作业表现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E9631-A9E1-405C-8890-C1E0110C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7C73A-D3EB-47FA-A3C7-4E41820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06789-BA06-4676-959F-B6D2A558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库存健康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45CEA-92C5-4356-A7C7-038177D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库龄规则、批次明细与呆滞 SKU 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9A499-29C4-4670-B099-4B15AB3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7A7BA-31B0-4AFD-9DA5-4A97C743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47735-8371-4F7E-9236-1DB8370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作业与履约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A09DC-BC71-42CA-A026-5A0F2A74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527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入出库、拣货、月台利用率和及时率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7A5A0-76C4-488F-92A9-75932B4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CAA99-EA7D-4AFC-A48F-CFC2316A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47CB5-18A0-4C20-B30B-E3C6F4FC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空间与库区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B6D52-36BC-42F4-85D9-66DB66F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库位占用、异常库位与库区下钻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B0BB8-D313-4435-8D48-5E8E193F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9101C-F135-4CD4-8D18-64F65110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EC134-FCC4-49D8-9D78-43C9FE37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风险异常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EAABF-B074-40BB-B9C9-4B4A4872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95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等级、状态、SLA 与处置进度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64F67-89A8-46A1-A977-B34522A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CF012-B0DE-417E-ADB8-B3AC2FF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B1DA58-466C-4189-AECA-15472F6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资源调度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2ADFA-7808-4AC4-969B-5E8EE60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人员、叉车、加班与负荷协同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FB2360-97CF-43BE-B4CE-FC192DA8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968B3-BC2C-4E5A-B1AF-D9F8E25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51B259-78EB-475D-A37C-F7D4217E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1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数据中心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7A0491-B078-4975-97CD-C8E0FB0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863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Excel / CSV 导入、导出、模板和状态检查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C2F82-90B0-49E0-9D99-5D1D1941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29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3689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3F0DE-476A-4040-BEBC-33CCA6A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94043-17B2-428C-A705-8A37AAD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前后端分离架构把交互体验、业务服务与数据治理解耦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B070F-2E3D-4489-B0BE-01819B1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34E3-C29C-4438-96A7-5B51587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44904-5052-40A3-8A53-CA05F63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3F6"/>
          </a:solidFill>
          <a:ln xmlns:a="http://schemas.openxmlformats.org/drawingml/2006/main" w="0">
            <a:solidFill>
              <a:srgbClr val="DDF3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39D5A-60D5-4A01-99A2-EA6567F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3F6"/>
          </a:solidFill>
          <a:ln xmlns:a="http://schemas.openxmlformats.org/drawingml/2006/main" w="0">
            <a:solidFill>
              <a:srgbClr val="DDF3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1B8F0-9235-42DE-85E4-1F1596C4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400050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DF3F6"/>
          </a:solidFill>
          <a:ln xmlns:a="http://schemas.openxmlformats.org/drawingml/2006/main" w="0">
            <a:solidFill>
              <a:srgbClr val="DDF3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AB9AF-BD53-4476-BE31-22EEDBB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0289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989EF-5093-46BC-AAC0-F1FE848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4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8BA89-AC42-4015-BAAB-6204D95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BB3BB-E873-489A-994D-74F04CD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Vue 3 · Vue Router · ECharts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响应式布局 · 页面下钻 · 30 秒刷新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20D09-C450-4FFA-AC80-170A0A2A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DD689-6ED6-4658-AB75-4C07559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14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9"/>
          </a:solidFill>
          <a:ln xmlns:a="http://schemas.openxmlformats.org/drawingml/2006/main" w="0">
            <a:solidFill>
              <a:srgbClr val="46B5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E4B4B-AB17-4FE0-8517-1717256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03666-0551-4B86-A95B-61A936A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Spring Boot 2.7 · REST API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并发查询 · 异常调度 · OpenAPI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B7135-DD5D-47E9-87D3-BAB19D0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30289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12E9F-54B6-45AB-B452-98DE175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114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A63"/>
          </a:solidFill>
          <a:ln xmlns:a="http://schemas.openxmlformats.org/drawingml/2006/main" w="0">
            <a:solidFill>
              <a:srgbClr val="2E8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31957-FDCA-4655-BAF3-30CF10F2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EE210-033C-46F4-9825-4D3D44B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MySQL 8 · MyBatis-Plus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标准表结构 · 当前快照 · 事务一致性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21224-CBB4-4620-885A-01F291E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4095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4869D-556C-4690-B52A-CE6DE5D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数据交换层  ·  Apache POI + Commons 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B8A61-5D8B-4981-8838-D53B155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33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/api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EC978-972C-4AB2-9ADA-A894A222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33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764656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113D1-0F8C-41BD-BD2E-C54A908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CORE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407BC-E9B1-4917-835E-1D32B78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原料库主板把经营概览与风险信号放在同一屏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D1E4B-B7FA-4EA2-9B93-4639AAE0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9E6A8-3BA2-4E7E-A0D1-CF4D40ED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26841-5BD9-4D68-A2EE-E6F5CD6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0675"/>
            <a:ext cx="87249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f4ddc9a85473c"/>
          <a:srcRect xmlns:a="http://schemas.openxmlformats.org/drawingml/2006/main" l="12" t="0" r="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8667750" cy="4876800"/>
          </a:xfrm>
          <a:prstGeom xmlns:a="http://schemas.openxmlformats.org/drawingml/2006/main" prst="roundRect">
            <a:avLst>
              <a:gd name="adj" fmla="val 23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977C-40A3-4F16-AFD7-48B8321E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2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D6465-3A28-41FB-8367-3408AD31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907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综合健康度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需要干预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497EE-520F-4D52-BA2D-4C9F7E0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98.58%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3DDAC-E90A-434B-9A66-2E2DD5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290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库存准确率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9A614-F45F-48F3-81FC-CBE61BE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rPr>
              <a:t>85.68%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5B897-52B0-44CC-B503-B7C8858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24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库位占用率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8FCF-203A-438D-89A3-A2C28EC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8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关键价值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02E0F-F54D-401C-AED3-25A2CA70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388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汇总指标可继续下钻到作业、库区与异常详情，缩短定位路径。</a:t>
            </a:r>
          </a:p>
        </p:txBody>
      </p:sp>
    </p:spTree>
    <p:extLst>
      <p:ext uri="{BB962C8B-B14F-4D97-AF65-F5344CB8AC3E}">
        <p14:creationId xmlns:p14="http://schemas.microsoft.com/office/powerpoint/2010/main" val="274271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94A1B-857A-4458-9E6C-DDE3C83D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INVENTORY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16A7A-BAD3-46A7-9E34-F6E77AC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库存健康模块把“库龄”转化为可执行的呆滞治理清单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79CEE-4323-4D8D-9052-73436AE7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BBC91-9111-4F3D-AED2-D45DB98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49185-7539-4F28-A974-93122F50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0675"/>
            <a:ext cx="72771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bdf37d44d4aa7"/>
          <a:srcRect xmlns:a="http://schemas.openxmlformats.org/drawingml/2006/main" l="4833" t="0" r="4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7219950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3830B-C01E-4F38-98E7-3653310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rPr>
              <a:t>180天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6227D-364F-49FA-A0CD-38BFB943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呆滞判定阈值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2249A-ADB9-4D13-B8D1-EBB5752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8419A-D8E8-400B-8EA5-9D23B23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库龄规则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7E02E-8811-473D-BF16-CCFA6CD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8607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171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E36F2-E991-4F54-AA5A-B182AB50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1472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批次明细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B0549-9AB0-430F-866A-90B0994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E49A2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02A7D-D2D1-4CF9-98ED-EB84563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SKU 风险汇总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0A24A-07C2-4D77-B396-82A4C93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规则 → 批次 → SKU 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31648-AD8E-4073-9FB0-7EBE35D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388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同时保留快照日期与口径，便于追溯和验证。</a:t>
            </a:r>
          </a:p>
        </p:txBody>
      </p:sp>
    </p:spTree>
    <p:extLst>
      <p:ext uri="{BB962C8B-B14F-4D97-AF65-F5344CB8AC3E}">
        <p14:creationId xmlns:p14="http://schemas.microsoft.com/office/powerpoint/2010/main" val="2133523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2CAB7-64A7-4CED-A55D-0BF43FE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OPERATION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8CBC-920D-4BE5-81A8-7DB4F3C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运营与异常页面形成“发现—定位—处置—复盘”闭环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E8B57-5A36-4B73-BA35-ECDBD86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0576E-AA55-429B-8B45-BB36D70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7E2A1-3083-4A76-9CA6-968D78AE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0675"/>
            <a:ext cx="5486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3ddb3c1bf4291"/>
          <a:srcRect xmlns:a="http://schemas.openxmlformats.org/drawingml/2006/main" l="214" t="0" r="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542925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8EEBA-6508-433E-A7D2-607FE664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90675"/>
            <a:ext cx="5486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eb94ad4bd4583"/>
          <a:srcRect xmlns:a="http://schemas.openxmlformats.org/drawingml/2006/main" l="214" t="0" r="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619250"/>
            <a:ext cx="542925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7FD58-41D8-42D7-8C6C-0B3A7A5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作业侧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A2B36-CE82-49F4-B4AA-463C416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观察入出库、拣货、叉车、月台利用率和工时变化。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8BF7B-6CB2-4552-9CBB-9AD5AF00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4E49"/>
                </a:solidFill>
                <a:latin typeface="Microsoft YaHei"/>
                <a:ea typeface="Microsoft YaHei"/>
                <a:cs typeface="Microsoft YaHei"/>
              </a:rPr>
              <a:t>异常侧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E892F-1E24-4C79-8F21-B02EFAB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7205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按等级、状态和 SLA 聚焦未闭环事件，并持续刷新演示状态。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980CB-239F-45FA-9B36-0014A8D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6"/>
          </a:solidFill>
          <a:ln xmlns:a="http://schemas.openxmlformats.org/drawingml/2006/main" w="0">
            <a:solidFill>
              <a:srgbClr val="DDF3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7A88F-C311-462F-A35A-94E3F1F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统一仓库范围与时间窗口，让运营指标和异常记录使用同一分析上下文。</a:t>
            </a:r>
          </a:p>
        </p:txBody>
      </p:sp>
    </p:spTree>
    <p:extLst>
      <p:ext uri="{BB962C8B-B14F-4D97-AF65-F5344CB8AC3E}">
        <p14:creationId xmlns:p14="http://schemas.microsoft.com/office/powerpoint/2010/main" val="2003555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0262B-C502-4D81-A541-10BC32C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DATA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42BD6-2E40-456A-9C86-9668E2C6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数据中心让系统从“展示看板”升级为可维护的数据产品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B77AA-8107-4FA5-A683-4073DDB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E1E42-4616-457A-B37D-C99B49B4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498A1-6115-44A5-81CC-2FA8C339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5630D-63EF-4485-8332-04D1651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完整工作簿导入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A5CCE-C7EE-470B-8E39-AC36163E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11 个数据工作表先全量校验，再在单个事务中替换，避免半成功状态。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20E04-95F9-439D-8B8B-017048F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B5C9"/>
          </a:solidFill>
          <a:ln xmlns:a="http://schemas.openxmlformats.org/drawingml/2006/main" w="0">
            <a:solidFill>
              <a:srgbClr val="46B5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26F00-55FD-41B0-8826-9E0F5C5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轻量 CSV 合并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156C1-ACC4-4AEE-AFEC-BBD94CFE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以业务日期 + 仓库为主键更新仓库日指标，适合日常增量维护。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48B6-6893-4F2C-B324-582CC4F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63"/>
          </a:solidFill>
          <a:ln xmlns:a="http://schemas.openxmlformats.org/drawingml/2006/main" w="0">
            <a:solidFill>
              <a:srgbClr val="2E8A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DD1D3-B53F-44BA-A454-5FEFBFC4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标准化交付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03DD6-212A-4DFD-BD5A-34A85029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支持模板下载、数据状态检查，以及 XLSX / CSV 再导出与回导。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403D5-3E9D-4EF5-A452-3139045D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90675"/>
            <a:ext cx="6991350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79fc44b84739"/>
          <a:srcRect xmlns:a="http://schemas.openxmlformats.org/drawingml/2006/main" l="6062" t="0" r="6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19250"/>
            <a:ext cx="6934200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</p:spTree>
    <p:extLst>
      <p:ext uri="{BB962C8B-B14F-4D97-AF65-F5344CB8AC3E}">
        <p14:creationId xmlns:p14="http://schemas.microsoft.com/office/powerpoint/2010/main" val="1809462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4161E-85B8-4D2F-A325-DB425788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ENGINEERING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92814-4360-4568-87E9-11C7C26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工程化设计保证口径一致、交互可用和持续演进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38ADB-C878-4174-A731-0F2FCAEB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30D8E-2D42-4EA3-8D22-E44708FF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8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2A0E5-AB6C-4F7D-9F77-3CEDEB8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446B8-2AA0-4D8C-906E-2120459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621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数据口径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73CE7-8AA1-4276-A673-A2F97A9D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723FF-3D7B-4459-93C1-FCD87EC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仅使用最新库存快照；月度指标隔离历史月份；未结异常与 SLA 统计一致。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4E8EC-F3DC-44BC-80A9-89EBB0D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rPr>
              <a:t>OPEN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7C9E6-99F2-4314-911B-CFE29978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接口能力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1F5D4-6153-4D80-9F25-D8A8C86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1488-B858-4ED6-81C5-7C868E4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总览、单仓、库区、库龄、导入导出、模板、状态与健康检查均有 REST 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32E22-643B-4ABD-A9C1-56BA1CA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AUTOMATED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F9BAA-0066-4B6A-90E0-C899336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40043-BE9C-41C9-B45C-B643722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214B8-F085-4825-8DB9-D50239B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覆盖三类仓库、库龄规则、数据变更、导入导出回环、CSV 合并及异常返回。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22EC2-72EE-48A0-AA85-108FE3E4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8A63"/>
                </a:solidFill>
                <a:latin typeface="Microsoft YaHei"/>
                <a:ea typeface="Microsoft YaHei"/>
                <a:cs typeface="Microsoft YaHei"/>
              </a:rPr>
              <a:t>OPERABLE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9F0F0-3522-4590-9E8E-F1282FB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运行体验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18272-54C4-43B1-9CF0-5C08C1AD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solidFill>
              <a:srgbClr val="CFD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034CB-C2F0-4F57-A86E-CDFCCA4A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桌面、平板和移动端响应式；并发查询；自动刷新；可控演示调度。</a:t>
            </a:r>
          </a:p>
        </p:txBody>
      </p:sp>
    </p:spTree>
    <p:extLst>
      <p:ext uri="{BB962C8B-B14F-4D97-AF65-F5344CB8AC3E}">
        <p14:creationId xmlns:p14="http://schemas.microsoft.com/office/powerpoint/2010/main" val="1476324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4FFE8-B837-4F98-B342-5D62CBDD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4E7E9-DE65-4AD4-9C07-33EE311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项目已形成可运行的</a:t>
            </a:r>
          </a:p>
          <a:p xmlns:a="http://schemas.openxmlformats.org/drawingml/2006/main">
            <a:pPr algn="l">
              <a:defRPr sz="465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仓储运营数据闭环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FB4D2-F647-4A16-A114-F39FE5D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3"/>
          </a:solidFill>
          <a:ln xmlns:a="http://schemas.openxmlformats.org/drawingml/2006/main" w="0">
            <a:solidFill>
              <a:srgbClr val="0B18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9BEC-2714-4BF5-920D-605D38B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A4940-026E-414A-8BCD-E23BEFF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接入真实业务数据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A93C-0AA1-483F-8146-203DE2C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完善生产环境连接、权限和定时同步。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A73E3-3C80-4CAA-A9CC-4AB65C06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33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980E7-C3AC-455F-8177-EC5A4EA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固化预警策略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50E04-35DA-4749-BF61-773A244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将阈值、责任人和处置时限配置化。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2688A-05D5-41B8-97F0-D8AB6D7A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33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B5C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7D080-5F8A-4573-8DB6-23F10F2C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823"/>
                </a:solidFill>
                <a:latin typeface="Microsoft YaHei"/>
                <a:ea typeface="Microsoft YaHei"/>
                <a:cs typeface="Microsoft YaHei"/>
              </a:rPr>
              <a:t>建立运营复盘机制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16ED7-59E7-40D3-8923-AB04A03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围绕健康度、SLA 和呆滞库存持续优化。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FB4F5-312C-47A8-B181-7DC1CC2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让数据看得见，让问题追得上，让决策有依据。</a:t>
            </a:r>
          </a:p>
        </p:txBody>
      </p:sp>
    </p:spTree>
    <p:extLst>
      <p:ext uri="{BB962C8B-B14F-4D97-AF65-F5344CB8AC3E}">
        <p14:creationId xmlns:p14="http://schemas.microsoft.com/office/powerpoint/2010/main" val="786043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2026-08-12T02:11:10.9200000Z</dcterms:created>
  <dcterms:modified xsi:type="dcterms:W3CDTF">2026-08-12T02:11:10.9210000Z</dcterms:modified>
</coreProperties>
</file>